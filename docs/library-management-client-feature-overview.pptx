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89611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Library Management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44168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CBD5E1"/>
                </a:solidFill>
                <a:latin typeface="Aptos"/>
              </a:rPr>
              <a:t>Client Feature Overview, Advantages, and Operating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502920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FFFFFF"/>
                </a:solidFill>
                <a:latin typeface="Aptos"/>
              </a:rPr>
              <a:t>A governance platform for tracking Android and iOS libraries, detecting version changes, generating AI-assisted upgrade guidance, and coordinating approvals and notifications.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603503"/>
            <a:ext cx="7388352" cy="546811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083" y="640080"/>
            <a:ext cx="2779514" cy="5394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6080760"/>
            <a:ext cx="16276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6080760"/>
            <a:ext cx="82296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6245352"/>
            <a:ext cx="121615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647688"/>
            <a:ext cx="1216152" cy="2011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Android + 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6080760"/>
            <a:ext cx="16276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608076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6245352"/>
            <a:ext cx="121615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6647688"/>
            <a:ext cx="1216152" cy="2011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FastAPI Microservices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6080760"/>
            <a:ext cx="16276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6080760"/>
            <a:ext cx="82296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6245352"/>
            <a:ext cx="121615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6647688"/>
            <a:ext cx="1216152" cy="2011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React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What the application does for business and technology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4069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82296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Central 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365760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Maintains one governed inventory of mobile SDKs, current versions, latest versions, ownership, status, and notes.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600200"/>
            <a:ext cx="4069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57800" y="1600200"/>
            <a:ext cx="82296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764792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Automated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67128"/>
            <a:ext cx="365760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Fetches version metadata, compares current vs latest, classifies urgency, and produces upgrade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1600200"/>
            <a:ext cx="4069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29800" y="1600200"/>
            <a:ext cx="82296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764792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Controlled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167128"/>
            <a:ext cx="365760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Uses HITL review, audit records, scheduler visibility, and notifications so teams can act with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2194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42336"/>
                </a:solidFill>
                <a:latin typeface="Aptos"/>
              </a:rPr>
              <a:t>Client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217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Reduce manual effort spent checking SDK release pages and comparing versions.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Make upgrade decisions consistent across teams with rule-based and AI-assisted rationale.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Expose operational risk, overdue work, approval status, and LLM cost in a leadership-ready dashboard.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Preserve traceability for audit, compliance, and governance reviews.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7224" y="3666744"/>
            <a:ext cx="6336792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7-weekly-di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412" y="3703320"/>
            <a:ext cx="3730415" cy="3383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Business Challenges Addressed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Why this application matters to a client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1722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82296" cy="1170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5760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Fragmented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5760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SDK/version data often lives across spreadsheets, repositories, release notes, and team knowledge.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508760"/>
            <a:ext cx="61722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508760"/>
            <a:ext cx="82296" cy="1170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673351"/>
            <a:ext cx="5760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Slow upgrade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075688"/>
            <a:ext cx="5760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Teams manually check vendor pages and app dependency files, which delays awareness of important releases.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61722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82296" cy="1170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73552"/>
            <a:ext cx="5760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Inconsistent priority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75887"/>
            <a:ext cx="5760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Security, payment, crash, patch, and major-version signals may be interpreted differently by each team.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108960"/>
            <a:ext cx="61722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3108960"/>
            <a:ext cx="82296" cy="1170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273552"/>
            <a:ext cx="5760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Limited governance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75887"/>
            <a:ext cx="5760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Without approval history and audit logs, it is hard to show who decided what and why.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9160"/>
            <a:ext cx="61722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709160"/>
            <a:ext cx="82296" cy="1170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73752"/>
            <a:ext cx="5760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Poor operational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76088"/>
            <a:ext cx="5760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Leadership needs a concise view of risk, overdue upgrades, pipeline health, and cost of AI usage.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Feature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The product modules available to client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4160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82296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37490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Executive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3749039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Portfolio health, risk signals, LLM usage, and operational summary.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508760"/>
            <a:ext cx="4160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1508760"/>
            <a:ext cx="82296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673351"/>
            <a:ext cx="37490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SDK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075688"/>
            <a:ext cx="3749039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Library inventory, version history, lifecycle state, ownership, and exports.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508760"/>
            <a:ext cx="4160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1240" y="1508760"/>
            <a:ext cx="82296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1673351"/>
            <a:ext cx="37490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Upgrade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075688"/>
            <a:ext cx="3749039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HITL review, approval/rejection, decision evidence, and lifecycle tracking.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0440"/>
            <a:ext cx="4160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20440"/>
            <a:ext cx="82296" cy="1508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85032"/>
            <a:ext cx="37490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Pipeline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3749039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Scheduler controls, current run, stage SLAs, retry visibility, and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520440"/>
            <a:ext cx="4160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0" y="3520440"/>
            <a:ext cx="82296" cy="1508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3685032"/>
            <a:ext cx="37490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087368"/>
            <a:ext cx="3749039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Email and Teams delivery status, retry signals, and communication assurance.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3520440"/>
            <a:ext cx="4160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3520440"/>
            <a:ext cx="82296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3685032"/>
            <a:ext cx="37490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Audit, Analytics, Settings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4087368"/>
            <a:ext cx="3749039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Audit trail, AI cost/performance, prompt governance, and access controls.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03704" y="5541264"/>
            <a:ext cx="464515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3-libr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5577840"/>
            <a:ext cx="1463040" cy="196596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690104" y="5541264"/>
            <a:ext cx="464515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4-gover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565" y="5577840"/>
            <a:ext cx="1668227" cy="19659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End-to-end pipeline from inventory to stakeholder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002536"/>
            <a:ext cx="1581911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80" b="1">
                <a:solidFill>
                  <a:srgbClr val="0D9488"/>
                </a:solidFill>
                <a:latin typeface="Aptos"/>
              </a:rPr>
              <a:t>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13432"/>
            <a:ext cx="1581911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B687C"/>
                </a:solidFill>
                <a:latin typeface="Aptos"/>
              </a:rPr>
              <a:t>SDK list and current versions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32887" y="2359152"/>
            <a:ext cx="347473" cy="0"/>
          </a:xfrm>
          <a:prstGeom prst="line">
            <a:avLst/>
          </a:prstGeom>
          <a:ln w="19050">
            <a:solidFill>
              <a:srgbClr val="5B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1874519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2002536"/>
            <a:ext cx="1581911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80" b="1">
                <a:solidFill>
                  <a:srgbClr val="2563EB"/>
                </a:solidFill>
                <a:latin typeface="Aptos"/>
              </a:rPr>
              <a:t>Scrape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2313432"/>
            <a:ext cx="1581911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B687C"/>
                </a:solidFill>
                <a:latin typeface="Aptos"/>
              </a:rPr>
              <a:t>Fetch latest versions and history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4608" y="2359152"/>
            <a:ext cx="347472" cy="0"/>
          </a:xfrm>
          <a:prstGeom prst="line">
            <a:avLst/>
          </a:prstGeom>
          <a:ln w="19050">
            <a:solidFill>
              <a:srgbClr val="5B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03520" y="1874519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2002536"/>
            <a:ext cx="1581911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80" b="1">
                <a:solidFill>
                  <a:srgbClr val="16A34A"/>
                </a:solidFill>
                <a:latin typeface="Aptos"/>
              </a:rP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2313432"/>
            <a:ext cx="1581911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B687C"/>
                </a:solidFill>
                <a:latin typeface="Aptos"/>
              </a:rPr>
              <a:t>Detect version gaps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96327" y="2359152"/>
            <a:ext cx="347473" cy="0"/>
          </a:xfrm>
          <a:prstGeom prst="line">
            <a:avLst/>
          </a:prstGeom>
          <a:ln w="19050">
            <a:solidFill>
              <a:srgbClr val="5B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35240" y="1874519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81544" y="2002536"/>
            <a:ext cx="1581911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80" b="1">
                <a:solidFill>
                  <a:srgbClr val="EA580C"/>
                </a:solidFill>
                <a:latin typeface="Aptos"/>
              </a:rPr>
              <a:t>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544" y="2313432"/>
            <a:ext cx="1581911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B687C"/>
                </a:solidFill>
                <a:latin typeface="Aptos"/>
              </a:rPr>
              <a:t>Priority and business impact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28048" y="2359152"/>
            <a:ext cx="347472" cy="0"/>
          </a:xfrm>
          <a:prstGeom prst="line">
            <a:avLst/>
          </a:prstGeom>
          <a:ln w="19050">
            <a:solidFill>
              <a:srgbClr val="5B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66959" y="1874519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13263" y="2002536"/>
            <a:ext cx="1581911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80" b="1">
                <a:solidFill>
                  <a:srgbClr val="DC2626"/>
                </a:solidFill>
                <a:latin typeface="Aptos"/>
              </a:rPr>
              <a:t>Recommend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3263" y="2313432"/>
            <a:ext cx="1581911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B687C"/>
                </a:solidFill>
                <a:latin typeface="Aptos"/>
              </a:rPr>
              <a:t>AI guidance or rule fallback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859767" y="2359152"/>
            <a:ext cx="347472" cy="0"/>
          </a:xfrm>
          <a:prstGeom prst="line">
            <a:avLst/>
          </a:prstGeom>
          <a:ln w="19050">
            <a:solidFill>
              <a:srgbClr val="5B68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2298680" y="1874519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44984" y="2002536"/>
            <a:ext cx="1581911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80" b="1">
                <a:solidFill>
                  <a:srgbClr val="D97706"/>
                </a:solidFill>
                <a:latin typeface="Aptos"/>
              </a:rPr>
              <a:t>Notify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44984" y="2313432"/>
            <a:ext cx="1581911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5B687C"/>
                </a:solidFill>
                <a:latin typeface="Aptos"/>
              </a:rPr>
              <a:t>Email / Teams /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657600"/>
            <a:ext cx="6080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The scheduler executes the canonical steps in order: fetch libraries, scrape metadata, fetch version history, compare, recommend, notify.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Each run persists status, duration, items processed, timestamps, and failure details.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The UI exposes live progress, stage-level SLA indicators, run history, and root-cause summaries.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Recommendations are stored in the database so the client sees a stable, auditable read path.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61504" y="3438144"/>
            <a:ext cx="6291072" cy="33192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5-sched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306" y="3474720"/>
            <a:ext cx="4249466" cy="32461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Executive Overview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Leadership can see portfolio risk and operating health in one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" y="1380744"/>
            <a:ext cx="7936992" cy="592531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07" y="1417320"/>
            <a:ext cx="3015066" cy="5852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828800"/>
            <a:ext cx="4434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Portfolio health and upgrade posture for Android and iOS libraries.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Risk score, critical/high items, overdue work, and scheduler status.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LLM usage summary: calls, tokens, estimated cost, mode, and latency.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Designed for management review without needing to inspect individual service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5532120"/>
            <a:ext cx="44348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0" y="5532120"/>
            <a:ext cx="82296" cy="1170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5696712"/>
            <a:ext cx="402335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6099048"/>
            <a:ext cx="4023359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Turns a technical dependency problem into an executive-ready risk and governance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SDK Portfolio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A governed inventory for libraries, versions, ownership, and exportable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709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List, add, edit, deactivate/reactivate, and delete libraries.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View business details, technical package metadata, notes, ownership, and lifecycle status.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Version History supports selecting an intermediate version and setting it as the current active version.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Export-ready table views support reviews, reporting, and follow-up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1304" y="1380744"/>
            <a:ext cx="7982712" cy="551383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libr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221" y="1417320"/>
            <a:ext cx="4048878" cy="5440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349240"/>
            <a:ext cx="4709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349240"/>
            <a:ext cx="82296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13831"/>
            <a:ext cx="429768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916168"/>
            <a:ext cx="4297680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Removes spreadsheet drift and gives application teams one shared source of truth.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Recommendation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Consistent upgrade guidance with AI support and rule-based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42336"/>
                </a:solidFill>
                <a:latin typeface="Aptos"/>
              </a:rPr>
              <a:t>Priority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82296" cy="8046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84832"/>
            <a:ext cx="4800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4800600" cy="91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Major version bump, CVE, deprecated library, breaking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7180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1800"/>
            <a:ext cx="82296" cy="8046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36392"/>
            <a:ext cx="4800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38728"/>
            <a:ext cx="4800600" cy="91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Minor version bump, security/payment/compliance signal, sensitive SDK floor.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2336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023360"/>
            <a:ext cx="82296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87952"/>
            <a:ext cx="4800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Moderate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90288"/>
            <a:ext cx="4800600" cy="91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Patch bump, bug fix, performance, stability, recommended update.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074920"/>
            <a:ext cx="52120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074920"/>
            <a:ext cx="82296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39512"/>
            <a:ext cx="4800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Low / 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641848"/>
            <a:ext cx="4800600" cy="91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Cosmetic, documentation, optional update, or already up to date.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874519"/>
            <a:ext cx="3337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The LLM path generates structured JSON recommendations with business-friendly rationale.</a:t>
            </a:r>
          </a:p>
          <a:p>
            <a:pPr>
              <a:spcAft>
                <a:spcPts val="8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If the LLM is unavailable or returns invalid output, the application falls back to deterministic rules.</a:t>
            </a:r>
          </a:p>
          <a:p>
            <a:pPr>
              <a:spcAft>
                <a:spcPts val="8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Prompt templates and provider settings are controlled from the backend settings UI.</a:t>
            </a:r>
          </a:p>
          <a:p>
            <a:pPr>
              <a:spcAft>
                <a:spcPts val="8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Usage logging captures tokens, cost, latency, model, and runtime mode.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04704" y="1792224"/>
            <a:ext cx="3685032" cy="331927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9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85" y="1828800"/>
            <a:ext cx="2094270" cy="324612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629400" y="5669280"/>
            <a:ext cx="7223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29400" y="5669280"/>
            <a:ext cx="82296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5833872"/>
            <a:ext cx="681228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Advantage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6236208"/>
            <a:ext cx="68122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Clients get faster upgrade analysis while retaining explainability, cost control, and fallback behavior.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Human-in-the-Loop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Approval workflow for important upgrades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46504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2788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82296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96312"/>
            <a:ext cx="23774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Recommendation 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98648"/>
            <a:ext cx="2377439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Upgrade decision is classified and persisted.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16459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746504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331720"/>
            <a:ext cx="2788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2331720"/>
            <a:ext cx="82296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96312"/>
            <a:ext cx="23774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Review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98648"/>
            <a:ext cx="2377439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Actionable items enter HITL review.</a:t>
            </a:r>
          </a:p>
        </p:txBody>
      </p:sp>
      <p:sp>
        <p:nvSpPr>
          <p:cNvPr id="17" name="Oval 16"/>
          <p:cNvSpPr/>
          <p:nvPr/>
        </p:nvSpPr>
        <p:spPr>
          <a:xfrm>
            <a:off x="7543800" y="16459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746504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2331720"/>
            <a:ext cx="2788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3800" y="2331720"/>
            <a:ext cx="82296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496312"/>
            <a:ext cx="23774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Approve / Reject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898648"/>
            <a:ext cx="2377439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Reviewer records decision and evidence.</a:t>
            </a:r>
          </a:p>
        </p:txBody>
      </p:sp>
      <p:sp>
        <p:nvSpPr>
          <p:cNvPr id="23" name="Oval 22"/>
          <p:cNvSpPr/>
          <p:nvPr/>
        </p:nvSpPr>
        <p:spPr>
          <a:xfrm>
            <a:off x="10881359" y="16459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59" y="1746504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81359" y="2331720"/>
            <a:ext cx="2788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81359" y="2331720"/>
            <a:ext cx="82296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09959" y="2496312"/>
            <a:ext cx="23774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Implement &amp; 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59" y="2898648"/>
            <a:ext cx="2377439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Lifecycle state, audit record, and notifications are updated.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3" y="4123944"/>
            <a:ext cx="6291072" cy="290779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4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64" y="4160520"/>
            <a:ext cx="2405351" cy="283464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598664" y="4123944"/>
            <a:ext cx="6291072" cy="290779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8-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772" y="4160520"/>
            <a:ext cx="1244855" cy="28346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Operations and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Run control, delivery reliability, and scheduled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" y="1380744"/>
            <a:ext cx="6291072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sched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50" y="1417320"/>
            <a:ext cx="586546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44384" y="1380744"/>
            <a:ext cx="6291072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notification-rel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190" y="1417320"/>
            <a:ext cx="58654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217920"/>
            <a:ext cx="12527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Manual and scheduled runs with run history and stage status.</a:t>
            </a:r>
          </a:p>
          <a:p>
            <a:pPr>
              <a:spcAft>
                <a:spcPts val="3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Stage-level SLA visibility and root-cause summary for failed or partial runs.</a:t>
            </a:r>
          </a:p>
          <a:p>
            <a:pPr>
              <a:spcAft>
                <a:spcPts val="3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Email and Teams channels with notification logs and reliability indicators.</a:t>
            </a:r>
          </a:p>
          <a:p>
            <a:pPr>
              <a:spcAft>
                <a:spcPts val="3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Weekly digest view for leadership-ready status communication.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Administration, Security, and Cost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Settings and controls that make the platform manageable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0664" y="1380744"/>
            <a:ext cx="6062472" cy="432511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156" y="1417320"/>
            <a:ext cx="2285487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24344" y="1380744"/>
            <a:ext cx="6062472" cy="432511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721" y="1417320"/>
            <a:ext cx="3011717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144768"/>
            <a:ext cx="12527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Admin settings for LLM provider, model, keys, prompt templates, and application controls.</a:t>
            </a:r>
          </a:p>
          <a:p>
            <a:pPr>
              <a:spcAft>
                <a:spcPts val="3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Role-aware access for admin and viewer/reviewer users.</a:t>
            </a:r>
          </a:p>
          <a:p>
            <a:pPr>
              <a:spcAft>
                <a:spcPts val="3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LLM analytics for calls, tokens, estimated spend, latency, and recent usage.</a:t>
            </a:r>
          </a:p>
          <a:p>
            <a:pPr>
              <a:spcAft>
                <a:spcPts val="3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Audit trail for configuration, governance, and administrative activity.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Microservices designed around clear operating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8229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5603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API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560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Auth and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5448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554480"/>
            <a:ext cx="82296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25603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Library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21408"/>
            <a:ext cx="2560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Inventory, settings, 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55448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554480"/>
            <a:ext cx="82296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719072"/>
            <a:ext cx="25603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Scraper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121408"/>
            <a:ext cx="2560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Version metadata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018520" y="155448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18520" y="1554480"/>
            <a:ext cx="82296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1719072"/>
            <a:ext cx="25603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2121408"/>
            <a:ext cx="2560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Version gap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718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971800"/>
            <a:ext cx="8229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136392"/>
            <a:ext cx="25603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538728"/>
            <a:ext cx="2560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LLM + rule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9718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2971800"/>
            <a:ext cx="82296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136392"/>
            <a:ext cx="25603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Notification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538728"/>
            <a:ext cx="2560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Email and Teams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29718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20" y="2971800"/>
            <a:ext cx="82296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3136392"/>
            <a:ext cx="25603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Scheduler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538728"/>
            <a:ext cx="2560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Pipeline orchestration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018520" y="29718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018520" y="2971800"/>
            <a:ext cx="82296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0" y="3136392"/>
            <a:ext cx="25603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React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3538728"/>
            <a:ext cx="2560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Client-facing 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800600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42336"/>
                </a:solidFill>
                <a:latin typeface="Aptos"/>
              </a:rPr>
              <a:t>Operational 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57800"/>
            <a:ext cx="6217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FastAPI services with SQLite-backed persistence for the current release baseline.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Scheduler stores run state, step metadata, timestamps, processed counts, and failure details.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Recommendation read path uses persisted records to avoid stale runtime cache behavior.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Service lifecycle remains operable through the project management script.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93024" y="4718304"/>
            <a:ext cx="4965192" cy="249631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552" y="4754880"/>
            <a:ext cx="3172136" cy="24231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42336"/>
                </a:solidFill>
                <a:latin typeface="Aptos Display"/>
              </a:rPr>
              <a:t>Client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1155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5B687C"/>
                </a:solidFill>
                <a:latin typeface="Aptos"/>
              </a:rPr>
              <a:t>Business value delivered by the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1945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069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82296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1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Faster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75688"/>
            <a:ext cx="3657600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Automated registry checks reduce manual research and keep teams aware of new releases.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508760"/>
            <a:ext cx="4069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49240" y="1508760"/>
            <a:ext cx="82296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673351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Better prioritization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075688"/>
            <a:ext cx="3657600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Critical, high, moderate, and low classifications help teams focus on the right upgrades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508760"/>
            <a:ext cx="4069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1240" y="1508760"/>
            <a:ext cx="82296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1673351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Governed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075688"/>
            <a:ext cx="3657600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HITL approvals, audit trails, and lifecycle states preserve decision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66160"/>
            <a:ext cx="4069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66160"/>
            <a:ext cx="82296" cy="1508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30752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Lower operational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33087"/>
            <a:ext cx="3657600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SLA visibility, overdue tracking, and notifications reduce silent dependency drift.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3566160"/>
            <a:ext cx="4069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240" y="3566160"/>
            <a:ext cx="82296" cy="1508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3730752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AI with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133087"/>
            <a:ext cx="3657600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LLM recommendations are monitored for cost, latency, mode, and fallback behavior.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3566160"/>
            <a:ext cx="4069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3566160"/>
            <a:ext cx="82296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3730752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42336"/>
                </a:solidFill>
                <a:latin typeface="Aptos"/>
              </a:rPr>
              <a:t>Leadership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4133087"/>
            <a:ext cx="3657600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80" b="0">
                <a:solidFill>
                  <a:srgbClr val="5B687C"/>
                </a:solidFill>
                <a:latin typeface="Aptos"/>
              </a:rPr>
              <a:t>Executive dashboard and weekly digest translate technical debt into business posture.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217920"/>
            <a:ext cx="11887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42336"/>
                </a:solidFill>
                <a:latin typeface="Aptos"/>
              </a:rPr>
              <a:t>Suggested client message: "This platform gives engineering and leadership one reliable operating model for mobile SDK governance."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6400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 b="1">
                <a:solidFill>
                  <a:srgbClr val="FFFFFF"/>
                </a:solidFill>
                <a:latin typeface="Aptos Display"/>
              </a:rPr>
              <a:t>Recommended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00200"/>
            <a:ext cx="6400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1. Start with Executive Overview to frame the business value.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2. Open SDK Portfolio to show the inventory and version history.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3. Walk through Recommendation Intelligence and priority classification.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4. Demonstrate HITL Governance, Scheduler, Notifications, Audit, and Analytics.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5. Close with client advantages and implementation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81544" y="877824"/>
            <a:ext cx="6108192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-weekly-di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500" y="914400"/>
            <a:ext cx="494028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5166360"/>
            <a:ext cx="1248156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Outcome: a clearer upgrade process, lower dependency risk, stronger evidence for governance, and better visibility for both engineering and leadership.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181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5B687C"/>
                </a:solidFill>
                <a:latin typeface="Aptos"/>
              </a:rPr>
              <a:t>Library Management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0" y="7818120"/>
            <a:ext cx="320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5B687C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